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17"/>
    <p:sldId id="258" r:id="rId18"/>
    <p:sldId id="259" r:id="rId19"/>
    <p:sldId id="260" r:id="rId20"/>
    <p:sldId id="261" r:id="rId21"/>
    <p:sldId id="262" r:id="rId22"/>
    <p:sldId id="263" r:id="rId23"/>
    <p:sldId id="264" r:id="rId24"/>
    <p:sldId id="265" r:id="rId25"/>
    <p:sldId id="266" r:id="rId26"/>
    <p:sldId id="267" r:id="rId27"/>
    <p:sldId id="268" r:id="rId28"/>
    <p:sldId id="269" r:id="rId29"/>
    <p:sldId id="270" r:id="rId30"/>
    <p:sldId id="271" r:id="rId31"/>
    <p:sldId id="272" r:id="rId32"/>
    <p:sldId id="273" r:id="rId33"/>
    <p:sldId id="274" r:id="rId34"/>
    <p:sldId id="275" r:id="rId35"/>
    <p:sldId id="276" r:id="rId36"/>
    <p:sldId id="277" r:id="rId37"/>
    <p:sldId id="278" r:id="rId38"/>
    <p:sldId id="279" r:id="rId39"/>
    <p:sldId id="280" r:id="rId40"/>
    <p:sldId id="281" r:id="rId41"/>
    <p:sldId id="282" r:id="rId42"/>
    <p:sldId id="283" r:id="rId43"/>
    <p:sldId id="284" r:id="rId44"/>
    <p:sldId id="285" r:id="rId45"/>
    <p:sldId id="286" r:id="rId46"/>
    <p:sldId id="287" r:id="rId47"/>
    <p:sldId id="288" r:id="rId48"/>
    <p:sldId id="289" r:id="rId49"/>
    <p:sldId id="290" r:id="rId50"/>
    <p:sldId id="291" r:id="rId51"/>
    <p:sldId id="292" r:id="rId52"/>
    <p:sldId id="293" r:id="rId53"/>
    <p:sldId id="294" r:id="rId54"/>
    <p:sldId id="295" r:id="rId55"/>
    <p:sldId id="296" r:id="rId56"/>
    <p:sldId id="297" r:id="rId57"/>
    <p:sldId id="298" r:id="rId58"/>
    <p:sldId id="299" r:id="rId59"/>
    <p:sldId id="300" r:id="rId60"/>
    <p:sldId id="301" r:id="rId61"/>
    <p:sldId id="302" r:id="rId62"/>
    <p:sldId id="303" r:id="rId63"/>
    <p:sldId id="304" r:id="rId64"/>
    <p:sldId id="305" r:id="rId65"/>
    <p:sldId id="306" r:id="rId66"/>
    <p:sldId id="307" r:id="rId67"/>
    <p:sldId id="308" r:id="rId68"/>
    <p:sldId id="309" r:id="rId69"/>
    <p:sldId id="310" r:id="rId70"/>
    <p:sldId id="311" r:id="rId71"/>
    <p:sldId id="312" r:id="rId72"/>
    <p:sldId id="313" r:id="rId73"/>
    <p:sldId id="314" r:id="rId74"/>
    <p:sldId id="315" r:id="rId75"/>
    <p:sldId id="316" r:id="rId76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2.xml"/><Relationship Id="rId18" Type="http://schemas.openxmlformats.org/officeDocument/2006/relationships/slide" Target="slides/slide3.xml"/><Relationship Id="rId19" Type="http://schemas.openxmlformats.org/officeDocument/2006/relationships/slide" Target="slides/slide4.xml"/><Relationship Id="rId20" Type="http://schemas.openxmlformats.org/officeDocument/2006/relationships/slide" Target="slides/slide5.xml"/><Relationship Id="rId21" Type="http://schemas.openxmlformats.org/officeDocument/2006/relationships/slide" Target="slides/slide6.xml"/><Relationship Id="rId22" Type="http://schemas.openxmlformats.org/officeDocument/2006/relationships/slide" Target="slides/slide7.xml"/><Relationship Id="rId23" Type="http://schemas.openxmlformats.org/officeDocument/2006/relationships/slide" Target="slides/slide8.xml"/><Relationship Id="rId24" Type="http://schemas.openxmlformats.org/officeDocument/2006/relationships/slide" Target="slides/slide9.xml"/><Relationship Id="rId25" Type="http://schemas.openxmlformats.org/officeDocument/2006/relationships/slide" Target="slides/slide10.xml"/><Relationship Id="rId26" Type="http://schemas.openxmlformats.org/officeDocument/2006/relationships/slide" Target="slides/slide11.xml"/><Relationship Id="rId27" Type="http://schemas.openxmlformats.org/officeDocument/2006/relationships/slide" Target="slides/slide12.xml"/><Relationship Id="rId28" Type="http://schemas.openxmlformats.org/officeDocument/2006/relationships/slide" Target="slides/slide13.xml"/><Relationship Id="rId29" Type="http://schemas.openxmlformats.org/officeDocument/2006/relationships/slide" Target="slides/slide14.xml"/><Relationship Id="rId30" Type="http://schemas.openxmlformats.org/officeDocument/2006/relationships/slide" Target="slides/slide15.xml"/><Relationship Id="rId31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5" Type="http://schemas.openxmlformats.org/officeDocument/2006/relationships/slide" Target="slides/slide20.xml"/><Relationship Id="rId36" Type="http://schemas.openxmlformats.org/officeDocument/2006/relationships/slide" Target="slides/slide21.xml"/><Relationship Id="rId37" Type="http://schemas.openxmlformats.org/officeDocument/2006/relationships/slide" Target="slides/slide22.xml"/><Relationship Id="rId38" Type="http://schemas.openxmlformats.org/officeDocument/2006/relationships/slide" Target="slides/slide23.xml"/><Relationship Id="rId39" Type="http://schemas.openxmlformats.org/officeDocument/2006/relationships/slide" Target="slides/slide24.xml"/><Relationship Id="rId40" Type="http://schemas.openxmlformats.org/officeDocument/2006/relationships/slide" Target="slides/slide25.xml"/><Relationship Id="rId41" Type="http://schemas.openxmlformats.org/officeDocument/2006/relationships/slide" Target="slides/slide26.xml"/><Relationship Id="rId42" Type="http://schemas.openxmlformats.org/officeDocument/2006/relationships/slide" Target="slides/slide27.xml"/><Relationship Id="rId43" Type="http://schemas.openxmlformats.org/officeDocument/2006/relationships/slide" Target="slides/slide28.xml"/><Relationship Id="rId44" Type="http://schemas.openxmlformats.org/officeDocument/2006/relationships/slide" Target="slides/slide29.xml"/><Relationship Id="rId45" Type="http://schemas.openxmlformats.org/officeDocument/2006/relationships/slide" Target="slides/slide30.xml"/><Relationship Id="rId46" Type="http://schemas.openxmlformats.org/officeDocument/2006/relationships/slide" Target="slides/slide31.xml"/><Relationship Id="rId47" Type="http://schemas.openxmlformats.org/officeDocument/2006/relationships/slide" Target="slides/slide32.xml"/><Relationship Id="rId48" Type="http://schemas.openxmlformats.org/officeDocument/2006/relationships/slide" Target="slides/slide33.xml"/><Relationship Id="rId49" Type="http://schemas.openxmlformats.org/officeDocument/2006/relationships/slide" Target="slides/slide34.xml"/><Relationship Id="rId50" Type="http://schemas.openxmlformats.org/officeDocument/2006/relationships/slide" Target="slides/slide35.xml"/><Relationship Id="rId51" Type="http://schemas.openxmlformats.org/officeDocument/2006/relationships/slide" Target="slides/slide36.xml"/><Relationship Id="rId52" Type="http://schemas.openxmlformats.org/officeDocument/2006/relationships/slide" Target="slides/slide37.xml"/><Relationship Id="rId53" Type="http://schemas.openxmlformats.org/officeDocument/2006/relationships/slide" Target="slides/slide38.xml"/><Relationship Id="rId54" Type="http://schemas.openxmlformats.org/officeDocument/2006/relationships/slide" Target="slides/slide39.xml"/><Relationship Id="rId55" Type="http://schemas.openxmlformats.org/officeDocument/2006/relationships/slide" Target="slides/slide40.xml"/><Relationship Id="rId56" Type="http://schemas.openxmlformats.org/officeDocument/2006/relationships/slide" Target="slides/slide41.xml"/><Relationship Id="rId57" Type="http://schemas.openxmlformats.org/officeDocument/2006/relationships/slide" Target="slides/slide42.xml"/><Relationship Id="rId58" Type="http://schemas.openxmlformats.org/officeDocument/2006/relationships/slide" Target="slides/slide43.xml"/><Relationship Id="rId59" Type="http://schemas.openxmlformats.org/officeDocument/2006/relationships/slide" Target="slides/slide44.xml"/><Relationship Id="rId60" Type="http://schemas.openxmlformats.org/officeDocument/2006/relationships/slide" Target="slides/slide45.xml"/><Relationship Id="rId61" Type="http://schemas.openxmlformats.org/officeDocument/2006/relationships/slide" Target="slides/slide46.xml"/><Relationship Id="rId62" Type="http://schemas.openxmlformats.org/officeDocument/2006/relationships/slide" Target="slides/slide47.xml"/><Relationship Id="rId63" Type="http://schemas.openxmlformats.org/officeDocument/2006/relationships/slide" Target="slides/slide48.xml"/><Relationship Id="rId64" Type="http://schemas.openxmlformats.org/officeDocument/2006/relationships/slide" Target="slides/slide49.xml"/><Relationship Id="rId65" Type="http://schemas.openxmlformats.org/officeDocument/2006/relationships/slide" Target="slides/slide50.xml"/><Relationship Id="rId66" Type="http://schemas.openxmlformats.org/officeDocument/2006/relationships/slide" Target="slides/slide51.xml"/><Relationship Id="rId67" Type="http://schemas.openxmlformats.org/officeDocument/2006/relationships/slide" Target="slides/slide52.xml"/><Relationship Id="rId68" Type="http://schemas.openxmlformats.org/officeDocument/2006/relationships/slide" Target="slides/slide53.xml"/><Relationship Id="rId69" Type="http://schemas.openxmlformats.org/officeDocument/2006/relationships/slide" Target="slides/slide54.xml"/><Relationship Id="rId70" Type="http://schemas.openxmlformats.org/officeDocument/2006/relationships/slide" Target="slides/slide55.xml"/><Relationship Id="rId71" Type="http://schemas.openxmlformats.org/officeDocument/2006/relationships/slide" Target="slides/slide56.xml"/><Relationship Id="rId72" Type="http://schemas.openxmlformats.org/officeDocument/2006/relationships/slide" Target="slides/slide57.xml"/><Relationship Id="rId73" Type="http://schemas.openxmlformats.org/officeDocument/2006/relationships/slide" Target="slides/slide58.xml"/><Relationship Id="rId74" Type="http://schemas.openxmlformats.org/officeDocument/2006/relationships/slide" Target="slides/slide59.xml"/><Relationship Id="rId75" Type="http://schemas.openxmlformats.org/officeDocument/2006/relationships/slide" Target="slides/slide60.xml"/><Relationship Id="rId76" Type="http://schemas.openxmlformats.org/officeDocument/2006/relationships/slide" Target="slides/slide61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005840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" kern="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 CATEGORY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" y="150876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guide title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concise subtitle describing the audience and outcome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85800" y="42245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OR CONTEXT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005840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400" b="1" spc="12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導入・利用ガイド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" y="150876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34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は何ができるのか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800" dirty="0">
                <a:solidFill>
                  <a:srgbClr val="CAD1D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環境準備から利用後に残る成果物まで、順番に説明する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85800" y="42245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職場の同僚向け・改訂版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この資料の読み方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9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4つの疑問に順番に答える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F0FE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89888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316736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何ができる？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886200" y="1316736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5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開発と資料作成で、どんな依頼を成果物へ変えられるか。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" y="1755648"/>
            <a:ext cx="0" cy="292608"/>
          </a:xfrm>
          <a:prstGeom prst="line">
            <a:avLst/>
          </a:prstGeom>
          <a:noFill/>
          <a:ln w="19050">
            <a:solidFill>
              <a:srgbClr val="D5D9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0482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F0FE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139696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2066544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何を準備する？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886200" y="2066544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5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新規・既存Project別の配置、Skill登録、必要Tool。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4400" y="2505456"/>
            <a:ext cx="0" cy="292608"/>
          </a:xfrm>
          <a:prstGeom prst="line">
            <a:avLst/>
          </a:prstGeom>
          <a:noFill/>
          <a:ln w="19050">
            <a:solidFill>
              <a:srgbClr val="D5D9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2798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F0FE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889504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71600" y="2816352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どう頼む？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886200" y="2816352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5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最初の依頼文、選ばれるSkill、途中で確認される内容。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14400" y="3255264"/>
            <a:ext cx="0" cy="292608"/>
          </a:xfrm>
          <a:prstGeom prst="line">
            <a:avLst/>
          </a:prstGeom>
          <a:noFill/>
          <a:ln w="19050">
            <a:solidFill>
              <a:srgbClr val="D5D9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35478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639312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71600" y="3566160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使うとどうなる？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886200" y="356616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5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生成されるFile、Test・QA、未確認事項、次の行動。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まず理解すること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AI-Engine-DevはAI作業の再利用キット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3822192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353312"/>
            <a:ext cx="73152" cy="26974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481328"/>
            <a:ext cx="3456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WHAT IT IS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86968" y="1737360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含まれるもの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86968" y="2121408"/>
            <a:ext cx="345643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AI向けの工程手順（Skill）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Project内の作業規則（AGENTS.md）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要求・仕様・資料のTemplate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PPTX生成Engineと再利用Slide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Test・構造検査・目視QAの手順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64608" y="1353312"/>
            <a:ext cx="3822192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64608" y="1353312"/>
            <a:ext cx="73152" cy="269748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65776" y="1481328"/>
            <a:ext cx="3456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HOW IT RUNS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65776" y="1737360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利用する場所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065776" y="2121408"/>
            <a:ext cx="345643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CodexまたはClaude Codeで開く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対象Projectの実物を読み取る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依頼に合うSkillを選ぶ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Project内へ成果物を作る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検証結果と未確認事項を返す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965960" y="4224528"/>
            <a:ext cx="5212080" cy="347472"/>
          </a:xfrm>
          <a:prstGeom prst="roundRect">
            <a:avLst>
              <a:gd name="adj" fmla="val 21053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57400" y="4270248"/>
            <a:ext cx="5029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AI-Engine-Dev単体を起動するのではなく、対象Project内のAI作業へ組み込む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できること：DEVELOPMENT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Developmentは要望を検証済み変更へ変える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考える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要求・仕様・設計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要望が曖昧、設計判断が必要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要求書・仕様書・ADR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作る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TDD・実装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仕様をCodeへ変えたい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実装・Test・検証記録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直す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障害調査・Review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Bug、性能劣化、差分確認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根本原因・回帰Test・指摘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届ける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文書化・Delivery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利用手順、PR、Release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README・PR・CI結果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できること：PRESENTATION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Presentationは根拠付きPPTXを再生成できる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作る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build-presentation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新規Deck・既存Deck改訂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PPTX・出典・QA report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再利用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Template取込・説明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既存Slideを部品化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template.pptx・fields.yml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整える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Design System調整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色・書体・Logoを統一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design.ts・design.md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確かめる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構造検査・全枚QA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共有可能か確認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画像・Build/QA report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DEVELOPMENTの変換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要望を、Reviewできる開発成果物へ変える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210312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68580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3210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入力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3210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要望・Issue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既存Code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74904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33172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E8F0F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7802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7802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整理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47802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要求・仕様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設計・計画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39496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97764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2394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2394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実行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2394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Test先行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小さく実装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04088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62356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986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6986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検証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76986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Build・Test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二軸Review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26948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1578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41578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結果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41578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Code・文書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未確認事項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PRESENTATIONの変換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説明したい内容を、再生成できるPPTXへ変える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210312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68580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3210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入力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3210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目的・読者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根拠・素材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74904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33172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E8F0F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7802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7802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合意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47802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Brief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構成・結論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39496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97764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2394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2394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生成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2394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Template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build.ts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04088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62356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986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6986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検証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76986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PPTX構造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全枚Render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26948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1578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41578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結果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41578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Deck・出典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QA report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利用前と利用後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会話で終わらず、次の人が確認できる状態を残す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3822192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353312"/>
            <a:ext cx="73152" cy="26974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481328"/>
            <a:ext cx="3456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BEFORE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86968" y="1737360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依頼した時点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86968" y="2121408"/>
            <a:ext cx="345643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要望の解釈が人によって違う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根拠と推測が混ざる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何をTestするか不明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成果物の置き場所が不統一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次の担当者が会話を再読する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64608" y="1353312"/>
            <a:ext cx="3822192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64608" y="1353312"/>
            <a:ext cx="73152" cy="269748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65776" y="1481328"/>
            <a:ext cx="3456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AFTER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65776" y="1737360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作業完了時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065776" y="2121408"/>
            <a:ext cx="345643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要求・仕様・判断が文書化される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事実・仮定・未確認を区別する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実施した検証を具体的に記録する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正本と成果物の場所が決まる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Riskと次の行動を引き継げる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965960" y="4224528"/>
            <a:ext cx="5212080" cy="347472"/>
          </a:xfrm>
          <a:prstGeom prst="roundRect">
            <a:avLst>
              <a:gd name="adj" fmla="val 21053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57400" y="4270248"/>
            <a:ext cx="5029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価値はAIの回答文ではなく、Projectに残る成果物と検証可能性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85800" y="160020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3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環境を準備する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578608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dirty="0">
                <a:solidFill>
                  <a:srgbClr val="CAD1D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利用場所を選び、Skill登録と実行環境を確認する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85800" y="4160520"/>
            <a:ext cx="8001000" cy="0"/>
          </a:xfrm>
          <a:prstGeom prst="line">
            <a:avLst/>
          </a:prstGeom>
          <a:noFill/>
          <a:ln w="12700">
            <a:solidFill>
              <a:srgbClr val="3842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31596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最初の分岐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利用場所によって準備方法を選ぶ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89888"/>
            <a:ext cx="1965960" cy="1243584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389888"/>
            <a:ext cx="73152" cy="124358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517904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START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86968" y="177393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どこで使う？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86968" y="2157984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このRepositoryか、別のProjectかを決める。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11880" y="1234440"/>
            <a:ext cx="20574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11880" y="1234440"/>
            <a:ext cx="73152" cy="138988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13048" y="1362456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THIS REPO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13048" y="161848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そのまま利用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813048" y="2002536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rootを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Codex / Claudeで開く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611880" y="2880360"/>
            <a:ext cx="20574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11880" y="2880360"/>
            <a:ext cx="73152" cy="138988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13048" y="3008376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OTHER PROJECT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813048" y="326440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コピー利用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813048" y="3648456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新規はportable copy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既存はbootstrap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537960" y="2057400"/>
            <a:ext cx="21488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2057400"/>
            <a:ext cx="73152" cy="14173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39128" y="218541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VERIFY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39128" y="244144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Skill一覧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739128" y="2825496"/>
            <a:ext cx="1783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検出されたSkillとProject規則を確認する。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2651760" y="2011680"/>
            <a:ext cx="896112" cy="-91440"/>
          </a:xfrm>
          <a:prstGeom prst="line">
            <a:avLst/>
          </a:prstGeom>
          <a:noFill/>
          <a:ln w="1524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651760" y="2011680"/>
            <a:ext cx="896112" cy="1554480"/>
          </a:xfrm>
          <a:prstGeom prst="line">
            <a:avLst/>
          </a:prstGeom>
          <a:noFill/>
          <a:ln w="1524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669280" y="1920240"/>
            <a:ext cx="804672" cy="594360"/>
          </a:xfrm>
          <a:prstGeom prst="line">
            <a:avLst/>
          </a:prstGeom>
          <a:noFill/>
          <a:ln w="1524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669280" y="3566160"/>
            <a:ext cx="804672" cy="-548640"/>
          </a:xfrm>
          <a:prstGeom prst="line">
            <a:avLst/>
          </a:prstGeom>
          <a:noFill/>
          <a:ln w="1524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このRepositoryで使う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AI-Engine-Dev自体はすでに利用可能な構成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F0FE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89888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316736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Repositoryを開く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886200" y="1316736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5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rootをCodexまたはClaude Codeで開く。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" y="1755648"/>
            <a:ext cx="0" cy="292608"/>
          </a:xfrm>
          <a:prstGeom prst="line">
            <a:avLst/>
          </a:prstGeom>
          <a:noFill/>
          <a:ln w="19050">
            <a:solidFill>
              <a:srgbClr val="D5D9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0482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F0FE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139696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2066544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規則を確認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886200" y="2066544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5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AGENTS.mdと担当領域のREADMEを先に読む。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4400" y="2505456"/>
            <a:ext cx="0" cy="292608"/>
          </a:xfrm>
          <a:prstGeom prst="line">
            <a:avLst/>
          </a:prstGeom>
          <a:noFill/>
          <a:ln w="19050">
            <a:solidFill>
              <a:srgbClr val="D5D9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2798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F0FE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889504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71600" y="2816352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Skill一覧を見る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886200" y="2816352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5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Codexは/skills、ClaudeではSkill名を確認する。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14400" y="3255264"/>
            <a:ext cx="0" cy="292608"/>
          </a:xfrm>
          <a:prstGeom prst="line">
            <a:avLst/>
          </a:prstGeom>
          <a:noFill/>
          <a:ln w="19050">
            <a:solidFill>
              <a:srgbClr val="D5D9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35478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639312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71600" y="3566160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名前とPathを確認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886200" y="356616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5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.agents/skillsまたは.claude/skillsのLink先を確認する。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空の新規Project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development/.をProject rootへコピーする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2834640" cy="2971800"/>
          </a:xfrm>
          <a:prstGeom prst="roundRect">
            <a:avLst>
              <a:gd name="adj" fmla="val 2581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1832" y="1609344"/>
            <a:ext cx="2331720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 AI-Engine-Dev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 -R development/. \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../new-project/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 ../new-project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886200" y="1353312"/>
            <a:ext cx="224028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886200" y="1353312"/>
            <a:ext cx="73152" cy="129844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87368" y="148132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0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重要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87368" y="173736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末尾の . を残す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087368" y="2121408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隠しDirectoryの.agentsと.claudeもコピー対象になる。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355080" y="1353312"/>
            <a:ext cx="233172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55080" y="1353312"/>
            <a:ext cx="73152" cy="129844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56248" y="1481328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コピー後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556248" y="1737360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Project rootとして使う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556248" y="2121408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既存のsrc等をprojects/へ移動する必要はない。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886200" y="2907792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886200" y="2907792"/>
            <a:ext cx="73152" cy="14173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7368" y="3035808"/>
            <a:ext cx="4434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確認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087368" y="329184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verify script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087368" y="3675888"/>
            <a:ext cx="4434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0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元Repositoryではdevelopment/scripts/verify-portable-development-root.shを実行できる。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既存Project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一括コピーせずbootstrapを明示して依頼する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F0FE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89888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316736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既存Projectを開く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886200" y="1316736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5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実装・設定・既存READMEを保持した状態でAIに見せる。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" y="1755648"/>
            <a:ext cx="0" cy="292608"/>
          </a:xfrm>
          <a:prstGeom prst="line">
            <a:avLst/>
          </a:prstGeom>
          <a:noFill/>
          <a:ln w="19050">
            <a:solidFill>
              <a:srgbClr val="D5D9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0482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F0FE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139696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2066544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Skillを明示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886200" y="2066544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5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$bootstrap-development-harness を使うよう依頼する。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4400" y="2505456"/>
            <a:ext cx="0" cy="292608"/>
          </a:xfrm>
          <a:prstGeom prst="line">
            <a:avLst/>
          </a:prstGeom>
          <a:noFill/>
          <a:ln w="19050">
            <a:solidFill>
              <a:srgbClr val="D5D9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2798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F0FE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889504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71600" y="2816352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調査結果を確認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886200" y="2816352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5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既存構造、規則、必要な入口文書の提案を確認する。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14400" y="3255264"/>
            <a:ext cx="0" cy="292608"/>
          </a:xfrm>
          <a:prstGeom prst="line">
            <a:avLst/>
          </a:prstGeom>
          <a:noFill/>
          <a:ln w="19050">
            <a:solidFill>
              <a:srgbClr val="D5D9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35478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639312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71600" y="3566160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追加内容をReview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886200" y="356616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5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README・AGENTS.mdなど必要な文書だけが追加される。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 Skill登録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セットアップScriptで5 Skillを検出可能にする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F0FE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89888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316736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presentation/を配置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886200" y="1316736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利用するProject rootの直下にpresentation/を置く。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" y="1755648"/>
            <a:ext cx="0" cy="292608"/>
          </a:xfrm>
          <a:prstGeom prst="line">
            <a:avLst/>
          </a:prstGeom>
          <a:noFill/>
          <a:ln w="19050">
            <a:solidFill>
              <a:srgbClr val="D5D9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0482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F0FE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139696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2066544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Scriptを実行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886200" y="2066544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./presentation/scripts/setup-skills.sh を1回実行する。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4400" y="2505456"/>
            <a:ext cx="0" cy="292608"/>
          </a:xfrm>
          <a:prstGeom prst="line">
            <a:avLst/>
          </a:prstGeom>
          <a:noFill/>
          <a:ln w="19050">
            <a:solidFill>
              <a:srgbClr val="D5D9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2798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F0FE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889504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71600" y="2816352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Linkを確認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886200" y="2816352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.agents/skillsと.claude/skillsに相対Linkが作られる。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14400" y="3255264"/>
            <a:ext cx="0" cy="292608"/>
          </a:xfrm>
          <a:prstGeom prst="line">
            <a:avLst/>
          </a:prstGeom>
          <a:noFill/>
          <a:ln w="19050">
            <a:solidFill>
              <a:srgbClr val="D5D9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35478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639312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71600" y="3566160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再起動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886200" y="356616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一覧に出ない場合だけCodexまたはClaude Codeを再起動する。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PowerPoint生成Engine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Node.js 20以上とLibreOfficeを準備する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F0FE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89888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316736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必要Tool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886200" y="1316736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Node.js 20以上とnpm。全枚画像化にはLibreOfficeも必要。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" y="1755648"/>
            <a:ext cx="0" cy="292608"/>
          </a:xfrm>
          <a:prstGeom prst="line">
            <a:avLst/>
          </a:prstGeom>
          <a:noFill/>
          <a:ln w="19050">
            <a:solidFill>
              <a:srgbClr val="D5D9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0482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F0FE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139696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2066544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依存をInstall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886200" y="2066544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cd presentation/harness → npm ci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4400" y="2505456"/>
            <a:ext cx="0" cy="292608"/>
          </a:xfrm>
          <a:prstGeom prst="line">
            <a:avLst/>
          </a:prstGeom>
          <a:noFill/>
          <a:ln w="19050">
            <a:solidFill>
              <a:srgbClr val="D5D9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2798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F0FE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889504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71600" y="2816352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基盤を確認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886200" y="2816352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npm run build → npm test → npm run self-validate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14400" y="3255264"/>
            <a:ext cx="0" cy="292608"/>
          </a:xfrm>
          <a:prstGeom prst="line">
            <a:avLst/>
          </a:prstGeom>
          <a:noFill/>
          <a:ln w="19050">
            <a:solidFill>
              <a:srgbClr val="D5D9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35478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639312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71600" y="3566160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成功状態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886200" y="356616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型検査・Test・一時PPTX生成が成功し、必要なら画像も生成される。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任意：Matt原文Skill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専門Skillは必要な範囲だけ追加する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F0FE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89888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316736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まず安定版25件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886200" y="1316736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5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engineeringとproductivityだけをLinkする構成が推奨。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" y="1755648"/>
            <a:ext cx="0" cy="292608"/>
          </a:xfrm>
          <a:prstGeom prst="line">
            <a:avLst/>
          </a:prstGeom>
          <a:noFill/>
          <a:ln w="19050">
            <a:solidFill>
              <a:srgbClr val="D5D9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0482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F0FE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139696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2066544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初回設定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886200" y="2066544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5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$setup-matt-pocock-skills を明示して実行する。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4400" y="2505456"/>
            <a:ext cx="0" cy="292608"/>
          </a:xfrm>
          <a:prstGeom prst="line">
            <a:avLst/>
          </a:prstGeom>
          <a:noFill/>
          <a:ln w="19050">
            <a:solidFill>
              <a:srgbClr val="D5D9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2798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F0FE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889504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71600" y="2816352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設定内容を決める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886200" y="2816352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5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Issue管理先、Label、CONTEXT.md、ADR配置を確認する。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14400" y="3255264"/>
            <a:ext cx="0" cy="292608"/>
          </a:xfrm>
          <a:prstGeom prst="line">
            <a:avLst/>
          </a:prstGeom>
          <a:noFill/>
          <a:ln w="19050">
            <a:solidFill>
              <a:srgbClr val="D5D9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35478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639312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71600" y="3566160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重複を避ける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886200" y="356616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5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統合Skillと同名の場合は名前だけでなくPathも確認する。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8001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環境準備の完了条件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94944"/>
            <a:ext cx="8001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7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次の6項目を確認できれば最初の依頼へ進める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16642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0992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✓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16152" y="1655064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対象ProjectをCodexまたはClaude Codeで開ける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800600" y="16642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00600" y="170992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✓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330952" y="1655064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AGENTS.mdと担当領域READMEを読める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245059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49631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16152" y="2441448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利用するSkillが一覧またはPathで確認できる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800600" y="245059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249631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330952" y="2441448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既存Projectではbootstrap方針を確認した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323697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282696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✓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16152" y="3227832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PPTX作成時はNode・npm・LibreOfficeを確認した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800600" y="323697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3282696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✓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330952" y="3227832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秘密情報や外部操作の権限境界を確認した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85800" y="4352544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0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成功の目安：Skillを選べる／Project規則を読める／必要な検証Commandが動く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85800" y="160020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3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最初の依頼をする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578608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dirty="0">
                <a:solidFill>
                  <a:srgbClr val="CAD1D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依頼文、選ばれる工程、生成物、利用者の確認点を具体例で理解する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85800" y="4160520"/>
            <a:ext cx="8001000" cy="0"/>
          </a:xfrm>
          <a:prstGeom prst="line">
            <a:avLst/>
          </a:prstGeom>
          <a:noFill/>
          <a:ln w="12700">
            <a:solidFill>
              <a:srgbClr val="3842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31596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最初に選ぶ環境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9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このProjectには2つの作業環境がある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3822192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353312"/>
            <a:ext cx="73152" cy="26974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481328"/>
            <a:ext cx="3456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86968" y="1737360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システム開発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86968" y="2121408"/>
            <a:ext cx="345643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対象：アプリ・Web・業務System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扱うこと：要求、仕様、設計、実装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確認：Test、Build、Code review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入口：development/README.md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例：新機能追加、不具合調査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64608" y="1353312"/>
            <a:ext cx="3822192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64608" y="1353312"/>
            <a:ext cx="73152" cy="269748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65776" y="1481328"/>
            <a:ext cx="3456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65776" y="1737360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資料作成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065776" y="2121408"/>
            <a:ext cx="345643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対象：PowerPoint資料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扱うこと：Brief、構成、Template、生成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確認：PPTX構造、全ページ目視QA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入口：presentation/README.md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例：説明資料、提案書、報告資料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965960" y="4224528"/>
            <a:ext cx="5212080" cy="347472"/>
          </a:xfrm>
          <a:prstGeom prst="roundRect">
            <a:avLst>
              <a:gd name="adj" fmla="val 21053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57400" y="4270248"/>
            <a:ext cx="5029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依頼する前に、成果物がSystem変更かPowerPoint資料かで環境を選ぶ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依頼文の型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4要素を伝えると作業範囲が安定する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F0FE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89888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316736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目的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886200" y="1316736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5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誰の、どんな問題を解決したいか。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" y="1755648"/>
            <a:ext cx="0" cy="292608"/>
          </a:xfrm>
          <a:prstGeom prst="line">
            <a:avLst/>
          </a:prstGeom>
          <a:noFill/>
          <a:ln w="19050">
            <a:solidFill>
              <a:srgbClr val="D5D9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0482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F0FE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139696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2066544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対象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886200" y="2066544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5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Project、機能、資料、既存Fileなど作業範囲。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4400" y="2505456"/>
            <a:ext cx="0" cy="292608"/>
          </a:xfrm>
          <a:prstGeom prst="line">
            <a:avLst/>
          </a:prstGeom>
          <a:noFill/>
          <a:ln w="19050">
            <a:solidFill>
              <a:srgbClr val="D5D9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2798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F0FE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889504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71600" y="2816352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完了条件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886200" y="2816352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5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何ができれば完了か、必要なTestや表示確認。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14400" y="3255264"/>
            <a:ext cx="0" cy="292608"/>
          </a:xfrm>
          <a:prstGeom prst="line">
            <a:avLst/>
          </a:prstGeom>
          <a:noFill/>
          <a:ln w="19050">
            <a:solidFill>
              <a:srgbClr val="D5D9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35478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639312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71600" y="3566160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権限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886200" y="356616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5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変更のみか、commit・PR・公開まで許可するか。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85800" y="160020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3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Developmentへ依頼する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578608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dirty="0">
                <a:solidFill>
                  <a:srgbClr val="CAD1D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システム開発の新機能追加と不具合調査を具体例で確認する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85800" y="4160520"/>
            <a:ext cx="8001000" cy="0"/>
          </a:xfrm>
          <a:prstGeom prst="line">
            <a:avLst/>
          </a:prstGeom>
          <a:noFill/>
          <a:ln w="12700">
            <a:solidFill>
              <a:srgbClr val="3842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31596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例1：新機能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要望だけでなく、完了条件と権限を一緒に伝える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3822192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353312"/>
            <a:ext cx="73152" cy="26974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481328"/>
            <a:ext cx="3456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REQUEST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86968" y="1737360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依頼例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86968" y="2121408"/>
            <a:ext cx="345643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ユーザーが通知時刻を変更できる機能を追加してください。</a:t>
            </a:r>
            <a:endParaRPr lang="en-US" sz="1600" dirty="0"/>
          </a:p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既存仕様と実装を確認し、要求と仕様を整理してください。</a:t>
            </a:r>
            <a:endParaRPr lang="en-US" sz="1600" dirty="0"/>
          </a:p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Testを先に作り、READMEも同期してください。</a:t>
            </a:r>
            <a:endParaRPr lang="en-US" sz="1600" dirty="0"/>
          </a:p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commit・pushはしないでください。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64608" y="1353312"/>
            <a:ext cx="3822192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64608" y="1353312"/>
            <a:ext cx="73152" cy="269748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65776" y="1481328"/>
            <a:ext cx="3456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ROUTED WORK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65776" y="1737360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AIが選ぶ工程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065776" y="2121408"/>
            <a:ext cx="345643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requirements-analysis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specification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architecture-design / planning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tdd → implementation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code-review → documentation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965960" y="4224528"/>
            <a:ext cx="5212080" cy="347472"/>
          </a:xfrm>
          <a:prstGeom prst="roundRect">
            <a:avLst>
              <a:gd name="adj" fmla="val 21053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57400" y="4270248"/>
            <a:ext cx="5029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途中で仕様判断が必要なら、AIは実装前に確認を求める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例1：利用後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新機能の利用後は、実装・文書・検証が残る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210312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68580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3210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要求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3210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docs/requirements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受入条件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74904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33172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E8F0F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7802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7802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仕様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47802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docs/specs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異常系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39496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97764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2394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2394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実装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2394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Source code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Test code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04088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62356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986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6986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検証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76986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Build・Test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Review結果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26948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1578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41578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引継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41578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README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Risk・次の行動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例2：不具合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修正を急がず、再現と根本原因から始める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3822192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353312"/>
            <a:ext cx="73152" cy="26974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481328"/>
            <a:ext cx="3456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REQUEST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86968" y="1737360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依頼例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86968" y="2121408"/>
            <a:ext cx="345643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保存後に画面が古い値へ戻る原因を調査してください。</a:t>
            </a:r>
            <a:endParaRPr lang="en-US" sz="1600" dirty="0"/>
          </a:p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再現条件と根本原因を特定し、影響範囲を説明してください。</a:t>
            </a:r>
            <a:endParaRPr lang="en-US" sz="1600" dirty="0"/>
          </a:p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今は診断だけで、修正はしないでください。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64608" y="1353312"/>
            <a:ext cx="3822192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64608" y="1353312"/>
            <a:ext cx="73152" cy="269748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65776" y="1481328"/>
            <a:ext cx="3456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RESULT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65776" y="1737360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利用後に残るもの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065776" y="2121408"/>
            <a:ext cx="345643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再現手順と観測結果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原因仮説と検証結果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根本原因の説明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影響範囲と安全な修正方針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未実施の修正・実機確認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965960" y="4224528"/>
            <a:ext cx="5212080" cy="347472"/>
          </a:xfrm>
          <a:prstGeom prst="roundRect">
            <a:avLst>
              <a:gd name="adj" fmla="val 21053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57400" y="4270248"/>
            <a:ext cx="5029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「診断だけ」と指定すれば、原因説明までで止まり、修正権限は広がらない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85800" y="160020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3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Presentationへ依頼する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578608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dirty="0">
                <a:solidFill>
                  <a:srgbClr val="CAD1D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PowerPoint資料の依頼と、残る成果物を確認する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85800" y="4160520"/>
            <a:ext cx="8001000" cy="0"/>
          </a:xfrm>
          <a:prstGeom prst="line">
            <a:avLst/>
          </a:prstGeom>
          <a:noFill/>
          <a:ln w="12700">
            <a:solidFill>
              <a:srgbClr val="3842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31596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 例：説明資料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読者と読後の行動を指定すると構成判断が変わる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3822192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353312"/>
            <a:ext cx="73152" cy="26974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481328"/>
            <a:ext cx="3456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REQUEST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86968" y="1737360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依頼例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86968" y="2121408"/>
            <a:ext cx="345643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職場の同僚向けに、この仕組みの利用ガイドを作ってください。</a:t>
            </a:r>
            <a:endParaRPr lang="en-US" sz="1600" dirty="0"/>
          </a:p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何ができるか、環境準備、利用後の成果を説明してください。</a:t>
            </a:r>
            <a:endParaRPr lang="en-US" sz="1600" dirty="0"/>
          </a:p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編集可能なPPTXと全ページQA結果を残してください。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64608" y="1353312"/>
            <a:ext cx="3822192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64608" y="1353312"/>
            <a:ext cx="73152" cy="269748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65776" y="1481328"/>
            <a:ext cx="3456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ROUTED WORK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65776" y="1737360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AIが行うこと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065776" y="2121408"/>
            <a:ext cx="345643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Briefで理解を合意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根拠とSection順を記録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Templateまたは新規作図を選択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決定論的にPPTXを生成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構造検査と全枚目視QA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965960" y="4224528"/>
            <a:ext cx="5212080" cy="347472"/>
          </a:xfrm>
          <a:prstGeom prst="roundRect">
            <a:avLst>
              <a:gd name="adj" fmla="val 21053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57400" y="4270248"/>
            <a:ext cx="5029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資料の価値は枚数ではなく、読者が次の行動を判断できること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PRESENTATION：利用後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資料を使った後は、PPTXを再生成・検証できる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210312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68580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3210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目的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3210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brief.txt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理解確認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74904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33172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E8F0F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7802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7802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根拠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47802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source-notes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出典・仮定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39496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97764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2394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2394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生成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2394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build.ts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Template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04088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62356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986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6986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表示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76986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deck.pptx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全Slide画像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26948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1578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41578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証拠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41578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Build report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QA report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成果物の場所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作業後は会話ではなくProject内のFileを正本にする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2834640" cy="2971800"/>
          </a:xfrm>
          <a:prstGeom prst="roundRect">
            <a:avLst>
              <a:gd name="adj" fmla="val 2581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1832" y="1609344"/>
            <a:ext cx="2331720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project-root/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├─ docs/requirements/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├─ docs/specs/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├─ docs/plans/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├─ src/ and tests/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└─ presentation/harness/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└─ projects/&lt;deck-id&gt;/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├─ brief.txt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├─ source-notes.txt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└─ output/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886200" y="1353312"/>
            <a:ext cx="224028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886200" y="1353312"/>
            <a:ext cx="73152" cy="129844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87368" y="148132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87368" y="173736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docs / src / tests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087368" y="2121408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仕様、実装、Test、ADRなどを既存Project構造へ置く。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355080" y="1353312"/>
            <a:ext cx="233172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55080" y="1353312"/>
            <a:ext cx="73152" cy="129844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56248" y="1481328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556248" y="1737360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projects/&lt;deck-id&gt;/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556248" y="2121408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PPTX、生成Code、出典、QA結果を一緒に管理する。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886200" y="2907792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886200" y="2907792"/>
            <a:ext cx="73152" cy="14173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7368" y="3035808"/>
            <a:ext cx="4434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引き継ぎ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087368" y="329184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結果を分離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087368" y="3675888"/>
            <a:ext cx="4434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実施済み、未確認、Risk、次の行動を明示する。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人が決めること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外部操作と最終判断は、人が承認する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3858768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371600"/>
            <a:ext cx="73152" cy="12344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499616"/>
            <a:ext cx="3493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AUTO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86968" y="1755648"/>
            <a:ext cx="3493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AIが進められる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86968" y="2139696"/>
            <a:ext cx="34930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読取、整理、Project内の変更、依頼範囲のTest・生成・検査。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18888" y="1371600"/>
            <a:ext cx="3858768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18888" y="1371600"/>
            <a:ext cx="73152" cy="12344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0056" y="1499616"/>
            <a:ext cx="3493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ASK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0056" y="1755648"/>
            <a:ext cx="3493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確認が必要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020056" y="2139696"/>
            <a:ext cx="34930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仕様が分岐する判断、復元、追加範囲、機密情報の扱い。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5800" y="2852928"/>
            <a:ext cx="3858768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5800" y="2852928"/>
            <a:ext cx="73152" cy="12344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2980944"/>
            <a:ext cx="3493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EXTERNAL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86968" y="3236976"/>
            <a:ext cx="3493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別の権限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86968" y="3621024"/>
            <a:ext cx="34930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commit、push、PR、Issue、送信、公開、deploy。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818888" y="2852928"/>
            <a:ext cx="3858768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18888" y="2852928"/>
            <a:ext cx="73152" cy="123444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0056" y="2980944"/>
            <a:ext cx="3493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HUMAN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20056" y="3236976"/>
            <a:ext cx="3493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最終判断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020056" y="3621024"/>
            <a:ext cx="34930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本番採用、社内表現、数値、法務・Security、公開可否。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85800" y="160020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3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Developmentを詳しく見る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578608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dirty="0">
                <a:solidFill>
                  <a:srgbClr val="CAD1D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実務例の裏側にあるFolder、Skill選択、標準工程を確認する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85800" y="4160520"/>
            <a:ext cx="8001000" cy="0"/>
          </a:xfrm>
          <a:prstGeom prst="line">
            <a:avLst/>
          </a:prstGeom>
          <a:noFill/>
          <a:ln w="12700">
            <a:solidFill>
              <a:srgbClr val="3842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31596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READMEとSkill一覧が開発作業の入口になる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2834640" cy="2971800"/>
          </a:xfrm>
          <a:prstGeom prst="roundRect">
            <a:avLst>
              <a:gd name="adj" fmla="val 2581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1832" y="1609344"/>
            <a:ext cx="2331720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├─ AGENTS.md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├─ README.md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├─ projects/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├─ skills/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│  └─ matt-pocock/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├─ scripts/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├─ templates/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└─ tests/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886200" y="1353312"/>
            <a:ext cx="224028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886200" y="1353312"/>
            <a:ext cx="73152" cy="129844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87368" y="148132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0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入口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87368" y="173736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README・AGENTS.md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087368" y="2121408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利用者向けの使い方と、AIが守るProject規則。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355080" y="1353312"/>
            <a:ext cx="233172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55080" y="1353312"/>
            <a:ext cx="73152" cy="129844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56248" y="1481328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Skill選択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556248" y="1737360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skills/README.md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556248" y="2121408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やりたいことから必要なSkillだけを選ぶ。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886200" y="2907792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886200" y="2907792"/>
            <a:ext cx="73152" cy="14173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7368" y="3035808"/>
            <a:ext cx="4434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PORTABLE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087368" y="329184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既存構造を維持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087368" y="3675888"/>
            <a:ext cx="4434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コピー先では既存のsrc、docs、testsをそのまま使う。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SKILL選択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今の状態と必要な成果物から選ぶ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89888"/>
            <a:ext cx="1965960" cy="1243584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389888"/>
            <a:ext cx="73152" cy="124358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517904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START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86968" y="177393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困りごと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86968" y="2157984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曖昧な要望、実装、Bug、提供のどこかを確認する。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11880" y="1234440"/>
            <a:ext cx="20574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11880" y="1234440"/>
            <a:ext cx="73152" cy="138988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13048" y="1362456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BEFORE CODE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13048" y="161848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整理する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813048" y="2002536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requirements → spec</a:t>
            </a:r>
            <a:endParaRPr lang="en-US" sz="1600" dirty="0"/>
          </a:p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architecture → plan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611880" y="2880360"/>
            <a:ext cx="20574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11880" y="2880360"/>
            <a:ext cx="73152" cy="138988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13048" y="3008376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CODE EXISTS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813048" y="326440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実行・確認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813048" y="3648456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tdd / implementation</a:t>
            </a:r>
            <a:endParaRPr lang="en-US" sz="1600" dirty="0"/>
          </a:p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debug / review / docs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537960" y="2057400"/>
            <a:ext cx="21488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2057400"/>
            <a:ext cx="73152" cy="14173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39128" y="218541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READ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39128" y="244144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SKILL.md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739128" y="2825496"/>
            <a:ext cx="1783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Trigger、手順、完了条件、権限境界を最後まで読む。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2651760" y="2011680"/>
            <a:ext cx="896112" cy="-91440"/>
          </a:xfrm>
          <a:prstGeom prst="line">
            <a:avLst/>
          </a:prstGeom>
          <a:noFill/>
          <a:ln w="1524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651760" y="2011680"/>
            <a:ext cx="896112" cy="1554480"/>
          </a:xfrm>
          <a:prstGeom prst="line">
            <a:avLst/>
          </a:prstGeom>
          <a:noFill/>
          <a:ln w="1524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669280" y="1920240"/>
            <a:ext cx="804672" cy="594360"/>
          </a:xfrm>
          <a:prstGeom prst="line">
            <a:avLst/>
          </a:prstGeom>
          <a:noFill/>
          <a:ln w="1524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669280" y="3566160"/>
            <a:ext cx="804672" cy="-548640"/>
          </a:xfrm>
          <a:prstGeom prst="line">
            <a:avLst/>
          </a:prstGeom>
          <a:noFill/>
          <a:ln w="1524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全工程を毎回使わず、依頼に必要な部分だけ通す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210312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68580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3210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上流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3210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要求 → 仕様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設計 → 計画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74904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33172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E8F0F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7802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7802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調査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47802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外部仕様や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選定が必要な時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39496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97764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2394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2394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実装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2394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TDD → 実装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BugはDebug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04088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62356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986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6986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確認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76986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二軸Review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文書同期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26948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1578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41578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提供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41578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Delivery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Human Review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SKILLの系統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通常は統合Skillから始め、専門Skillを必要時に足す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3822192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353312"/>
            <a:ext cx="73152" cy="26974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481328"/>
            <a:ext cx="3456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STANDARD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86968" y="1737360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統合Skill 13件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86968" y="2121408"/>
            <a:ext cx="345643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初回導入からDeliveryまで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Project共通の標準工程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成果物と完了条件が明確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skills/直下に配置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通常はこちらから選ぶ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64608" y="1353312"/>
            <a:ext cx="3822192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64608" y="1353312"/>
            <a:ext cx="73152" cy="269748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65776" y="1481328"/>
            <a:ext cx="3456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SPECIALIZED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65776" y="1737360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原文・補助Skill 39件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065776" y="2121408"/>
            <a:ext cx="345643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Matt原文Skill 37件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設計図のarchify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UI/UX知識のui-ux-pro-max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目的と安定度を確認して利用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同名SkillはPathを確認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965960" y="4224528"/>
            <a:ext cx="5212080" cy="347472"/>
          </a:xfrm>
          <a:prstGeom prst="roundRect">
            <a:avLst>
              <a:gd name="adj" fmla="val 21053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57400" y="4270248"/>
            <a:ext cx="5029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52件すべてを有効活用する必要はなく、1つの依頼には必要なSkillだけを使う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85800" y="160020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3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Presentationを詳しく見る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578608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dirty="0">
                <a:solidFill>
                  <a:srgbClr val="CAD1D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Deck作成、Template再利用、生成Engine、品質確認の役割を確認する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85800" y="4160520"/>
            <a:ext cx="8001000" cy="0"/>
          </a:xfrm>
          <a:prstGeom prst="line">
            <a:avLst/>
          </a:prstGeom>
          <a:noFill/>
          <a:ln w="12700">
            <a:solidFill>
              <a:srgbClr val="3842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31596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完成資料と再利用基盤を分けて管理する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2834640" cy="2971800"/>
          </a:xfrm>
          <a:prstGeom prst="roundRect">
            <a:avLst>
              <a:gd name="adj" fmla="val 2581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1832" y="1609344"/>
            <a:ext cx="2331720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├─ AGENTS.md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├─ README.md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├─ assets/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├─ presentations/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├─ skills/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├─ scripts/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└─ harness/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├─ projects/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└─ templates/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886200" y="1353312"/>
            <a:ext cx="224028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886200" y="1353312"/>
            <a:ext cx="73152" cy="129844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87368" y="148132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0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作成中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87368" y="173736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harness/projects/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087368" y="2121408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資料ごとのBrief、生成Code、出典、出力を管理する。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355080" y="1353312"/>
            <a:ext cx="233172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55080" y="1353312"/>
            <a:ext cx="73152" cy="129844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56248" y="1481328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再利用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556248" y="1737360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harness/templates/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556248" y="2121408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実Slideと編集Field、用途説明を部品として管理する。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886200" y="2907792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886200" y="2907792"/>
            <a:ext cx="73152" cy="14173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7368" y="3035808"/>
            <a:ext cx="4434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共有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087368" y="329184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presentations/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087368" y="3675888"/>
            <a:ext cx="4434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1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完成版またはReview対象を共有領域へ置く。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 SKILL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5つのPresentation Skillは役割ごとに選ぶ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Deck制作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build-presentation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PPTXを作る・直す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Deck project一式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部品化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ingest-slide-templates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既存PPTXを再利用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template.pptx等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部品説明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describe-slide-template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AIが選べる説明を作る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description.md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共通Design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customize-presentation-design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色・書体・Logo変更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design.ts・design.md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DECK PROJECT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目的・根拠・生成・結果を別Fileで残す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F0FE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89888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316736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brief.txt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886200" y="1316736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5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読者、目的、期待する行動、結論、範囲、確認状態。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" y="1755648"/>
            <a:ext cx="0" cy="292608"/>
          </a:xfrm>
          <a:prstGeom prst="line">
            <a:avLst/>
          </a:prstGeom>
          <a:noFill/>
          <a:ln w="19050">
            <a:solidFill>
              <a:srgbClr val="D5D9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0482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F0FE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139696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2066544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source-notes.txt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886200" y="2066544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5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事実、仮定、未確認、出典、支持する主張。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4400" y="2505456"/>
            <a:ext cx="0" cy="292608"/>
          </a:xfrm>
          <a:prstGeom prst="line">
            <a:avLst/>
          </a:prstGeom>
          <a:noFill/>
          <a:ln w="19050">
            <a:solidFill>
              <a:srgbClr val="D5D9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2798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F0FE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889504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71600" y="2816352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build.ts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886200" y="2816352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5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Slide順と内容を決定論的なCodeで再生成可能にする。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14400" y="3255264"/>
            <a:ext cx="0" cy="292608"/>
          </a:xfrm>
          <a:prstGeom prst="line">
            <a:avLst/>
          </a:prstGeom>
          <a:noFill/>
          <a:ln w="19050">
            <a:solidFill>
              <a:srgbClr val="D5D9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35478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639312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71600" y="3566160"/>
            <a:ext cx="2423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output/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886200" y="356616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5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deck.pptx、全枚画像、Build report、QA report。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 QA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PPTX生成成功と資料品質を別々に確認する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210312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68580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3210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Build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3210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TypeScript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PPTX生成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74904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33172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E8F0F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7802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7802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構造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47802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Package・Field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Slide数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39496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97764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2394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2394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画像化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2394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全Slideを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同じ条件でRender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040880" y="2624328"/>
            <a:ext cx="192024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62356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986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6986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目視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76986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切れ・重なり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余白・対比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269480" y="1874520"/>
            <a:ext cx="1417320" cy="1627632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15784" y="203911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415784" y="2404872"/>
            <a:ext cx="1124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6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引渡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415784" y="2825496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実施済み</a:t>
            </a:r>
            <a:endParaRPr lang="en-US" sz="14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未実施を分離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05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85800" y="160020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3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使った結果を引き継ぐ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578608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dirty="0">
                <a:solidFill>
                  <a:srgbClr val="CAD1D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成果物、検証、未確認事項、次の人の行動を一つにまとめる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85800" y="4160520"/>
            <a:ext cx="8001000" cy="0"/>
          </a:xfrm>
          <a:prstGeom prst="line">
            <a:avLst/>
          </a:prstGeom>
          <a:noFill/>
          <a:ln w="12700">
            <a:solidFill>
              <a:srgbClr val="3842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31596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作業完了の意味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7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生成しただけではなく、確認できる状態までを成果とする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3822192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353312"/>
            <a:ext cx="73152" cy="26974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481328"/>
            <a:ext cx="3456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NOT ENOUGH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86968" y="1737360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AIの回答だけ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86968" y="2121408"/>
            <a:ext cx="345643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会話に説明があるだけ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Fileの場所が不明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どのTestを実行したか不明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未確認事項が埋もれる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外部操作の有無が不明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64608" y="1353312"/>
            <a:ext cx="3822192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64608" y="1353312"/>
            <a:ext cx="73152" cy="269748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65776" y="1481328"/>
            <a:ext cx="3456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READY TO REVIEW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65776" y="1737360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引き継げる状態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065776" y="2121408"/>
            <a:ext cx="345643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成果物へのPathがある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正本文書と変更が一致する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検証Commandと結果がある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未確認・Riskが分離される</a:t>
            </a:r>
            <a:endParaRPr lang="en-US" sz="1600" dirty="0"/>
          </a:p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次のHuman actionが明確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965960" y="4224528"/>
            <a:ext cx="5212080" cy="347472"/>
          </a:xfrm>
          <a:prstGeom prst="roundRect">
            <a:avLst>
              <a:gd name="adj" fmla="val 21053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57400" y="4270248"/>
            <a:ext cx="5029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利用後に確認するもの：成果物・根拠・検証・未確認・次の行動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8001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引き継ぎCHECK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94944"/>
            <a:ext cx="8001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AIの完了報告では次の6点を見る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16642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0992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16152" y="1655064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4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何を変更・作成したか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800600" y="16642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00600" y="170992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330952" y="1655064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4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成果物はどこにあるか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245059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49631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16152" y="2441448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4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どの根拠を使ったか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800600" y="245059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249631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330952" y="2441448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4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どのBuild・Test・QAが成功したか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323697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282696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16152" y="3227832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4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何が未確認で、どんなRiskが残るか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800600" y="323697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3282696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330952" y="3227832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4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人が次に判断・実行することは何か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85800" y="4352544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0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commit・push・PR・公開・deployは、実施したかどうかを必ず分けて確認する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06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85800" y="160020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3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Skill索引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578608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dirty="0">
                <a:solidFill>
                  <a:srgbClr val="CAD1D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ここからは必要なSkillを名前で探すための参照資料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85800" y="4160520"/>
            <a:ext cx="8001000" cy="0"/>
          </a:xfrm>
          <a:prstGeom prst="line">
            <a:avLst/>
          </a:prstGeom>
          <a:noFill/>
          <a:ln w="12700">
            <a:solidFill>
              <a:srgbClr val="3842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31596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1/13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統合・初回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bootstrap-development-harness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既存Projectへ初導入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README・AGENTS.md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統合・要求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requirements-analysis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要望を要求へ整理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要求文書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統合・仕様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specification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振る舞い・異常系を確定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仕様書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統合・設計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architecture-design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責務・境界・APIを設計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設計記録・ADR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2/13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統合・計画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implementation-planning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依存付き作業へ分解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計画・Ticket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統合・調査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research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外部一次情報が必要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調査文書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統合・Test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tdd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Test先行で振る舞い変更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RED/GREEN/REFACTOR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統合・実装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implementation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承認済み仕様を小さく実装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垂直Slice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3/13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統合・障害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debugging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Bug・Build・性能劣化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根本原因・回帰Test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統合・Review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code-review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差分を二軸で確認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指摘と判定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統合・文書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documentation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利用・設計知識を同期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README・ADR等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統合・提供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delivery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Git・CI・Release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PR・CI・Rollback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4/13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統合・実行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orchestrated-development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役割別Agentで連続実行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Task・Review台帳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Matt・明示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ask-matt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使うSkillが不明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推奨Flow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Matt・明示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grill-with-docs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要望を文書と質問で深掘り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論点・用語・ADR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Matt・明示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triage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未整理Issue・外部PRを分類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分類・Brief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47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5/13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Matt・明示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improve-codebase-architecture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Deep module候補を調査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HTML report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Matt・明示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setup-matt-pocock-skills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原文Skillを初期設定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docs/agents設定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Matt・明示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to-spec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解決済み会話を仕様化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仕様Issue・文書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Matt・明示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to-tickets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仕様を依存付きTicket化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Ticket群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6/13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Matt・明示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implement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仕様・Ticketを実装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実装・Test・Review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Matt・明示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wayfinder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巨大で不確実な計画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意思決定地図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Matt・自動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prototype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捨てる試作で疑問を検証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Prototype・回答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Matt・自動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diagnosing-bugs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難しい不具合を再現から調査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原因・修正・回帰Test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7/13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Matt・自動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research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一次資料を引用付きで調査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Markdown調査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Matt・自動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tdd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正しいSeamでTest先行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Testと実装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Matt・自動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domain-modeling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Domain用語を明確化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CONTEXT・ADR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Matt・自動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codebase-design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Deep moduleとInterface設計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設計語彙・境界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50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8/13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Matt・自動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code-review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仕様・標準の二軸Review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差分指摘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Matt・自動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resolving-merge-conflicts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Merge/Rebase conflict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意図を保つ解消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Matt・自動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wizard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人専用設定を対話手順化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Bash wizard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Productivity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grill-me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Directoryなしの相談を深掘り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判断・未決事項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51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9/13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Productivity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handoff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別Agent・Sessionへ移す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引継ぎ文書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Productivity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teach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複数Sessionで学習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教材・学習記録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Productivity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to-questionnaire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専門家への質問を整理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質問票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Productivity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wait-what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直前説明を平易に再構成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再説明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52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10/13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Productivity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grilling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判断を質問でStress test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事実・分岐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Productivity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writing-for-agents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Agent向け文書を作る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Skill・AGENTS.md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Beta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loop-me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複数SessionでWorkflow設計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状態付き仕様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Beta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writing-beats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記事を展開単位で構成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Beatと本文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53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11/13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Beta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writing-fragments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記事材料をInterview収集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断片素材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Beta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writing-shape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Markdown素材を記事化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完成記事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Beta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claude-handoff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Claude背景Agentへ移す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即時Handoff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Beta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setup-ts-deep-modules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TS境界を静的強制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dependency設定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54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12/13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Beta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implement-spec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Task graphを並行実装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 Branch・PR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Beta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retro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Session後の環境改善検討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現状はStub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Misc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git-guardrails-claude-code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危険なGit操作をHookで阻止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Claude Hook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Misc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migrate-to-shoehorn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TS Testのasを移行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安全なFixture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55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APPENDIX：52 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Development Skill索引 13/13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Misc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scaffold-exercises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演習Directoryを作る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問題・解答・解説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Misc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setup-pre-commit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Commit前検査を追加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Husky等の設定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補助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archify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設計・Flow・差分を図示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図・検証記録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補助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ui-ux-pro-max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UI/UX知識を検索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候補・QA観点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56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APPENDIX：PRESENTATION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 Skill索引 1/2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制作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build-presentation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PPTX新規作成・改訂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Deck project一式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取込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ingest-slide-templates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既存Slideを部品化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Template一式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説明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describe-slide-template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Template用途を記述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description.md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Design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customize-presentation-design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共通Designを変更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design.ts・design.md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57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APPENDIX：PRESENTATION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8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 Skill索引 2/2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89888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813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区分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75688" y="1371600"/>
            <a:ext cx="169164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85416" y="1481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67328" y="1371600"/>
            <a:ext cx="2880360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48132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使う場面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47688" y="1371600"/>
            <a:ext cx="2039112" cy="45720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57416" y="1481328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主な成果物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194767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UI/UX補助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75688" y="1828800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85416" y="1947672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ui-ux-pro-max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7328" y="1828800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77056" y="1947672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設計知識・候補を検索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47688" y="1828800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7416" y="194767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候補・確認観点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2450592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2569464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正本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75688" y="2450592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85416" y="256946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presentation/skills/README.md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67328" y="2450592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2569464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Skillを選ぶ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647688" y="2450592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2569464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入口と境界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072384"/>
            <a:ext cx="1389888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3191256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設定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75688" y="3072384"/>
            <a:ext cx="16916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3191256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presentation/skills/SETUP.md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767328" y="3072384"/>
            <a:ext cx="28803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77056" y="3191256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Codex/Claudeへ登録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7688" y="3072384"/>
            <a:ext cx="203911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57416" y="3191256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Linkと検証手順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85800" y="3694176"/>
            <a:ext cx="1389888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" y="3813048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実行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075688" y="3694176"/>
            <a:ext cx="169164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85416" y="381304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presentation/harness/README.md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67328" y="3694176"/>
            <a:ext cx="2880360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77056" y="3813048"/>
            <a:ext cx="2660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依存・Commandを確認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647688" y="3694176"/>
            <a:ext cx="2039112" cy="621792"/>
          </a:xfrm>
          <a:prstGeom prst="rect">
            <a:avLst/>
          </a:prstGeom>
          <a:solidFill>
            <a:srgbClr val="F5F7FA"/>
          </a:solidFill>
          <a:ln w="7620">
            <a:solidFill>
              <a:srgbClr val="D5D9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57416" y="3813048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100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生成・QA手順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58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用語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3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4つの用語を同じ意味で使う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3858768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371600"/>
            <a:ext cx="73152" cy="12344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499616"/>
            <a:ext cx="3493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CANONICAL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86968" y="1755648"/>
            <a:ext cx="3493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正本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86968" y="2139696"/>
            <a:ext cx="34930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最新の定義や手順を一か所で管理し、他はLinkする。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18888" y="1371600"/>
            <a:ext cx="3858768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18888" y="1371600"/>
            <a:ext cx="73152" cy="12344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0056" y="1499616"/>
            <a:ext cx="3493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OUTPUT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0056" y="1755648"/>
            <a:ext cx="3493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成果物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020056" y="2139696"/>
            <a:ext cx="34930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利用されるSlide、仕様、Code、Test、調査報告など。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5800" y="2852928"/>
            <a:ext cx="3858768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5800" y="2852928"/>
            <a:ext cx="73152" cy="12344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2980944"/>
            <a:ext cx="3493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EVIDENCE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86968" y="3236976"/>
            <a:ext cx="3493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根拠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86968" y="3621024"/>
            <a:ext cx="34930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判断を支える仕様、実装、Log、Test、公式文書。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818888" y="2852928"/>
            <a:ext cx="3858768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9E0"/>
            </a:solidFill>
            <a:prstDash val="solid"/>
          </a:ln>
          <a:effectLst>
            <a:outerShdw sx="100000" sy="100000" kx="0" ky="0" algn="bl" rotWithShape="0" blurRad="12700" dist="50800" dir="2700000">
              <a:srgbClr val="D8DCE3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18888" y="2852928"/>
            <a:ext cx="73152" cy="1234440"/>
          </a:xfrm>
          <a:prstGeom prst="rect">
            <a:avLst/>
          </a:prstGeom>
          <a:solidFill>
            <a:srgbClr val="12182B"/>
          </a:solidFill>
          <a:ln w="12700">
            <a:solidFill>
              <a:srgbClr val="1218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0056" y="2980944"/>
            <a:ext cx="3493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OPEN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20056" y="3236976"/>
            <a:ext cx="3493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0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未確認事項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020056" y="3621024"/>
            <a:ext cx="34930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sz="12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必要だが権限・環境・情報不足で確認できないこと。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85800" y="4645152"/>
            <a:ext cx="800100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7183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AI-ENGINE-DEV 利用ガイド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75320" y="471830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59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8001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200" b="1" spc="110" kern="0" dirty="0">
                <a:solidFill>
                  <a:srgbClr val="3B82F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最初の一歩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94944"/>
            <a:ext cx="8001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2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次の依頼はこの順番で始める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16642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0992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16152" y="1655064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対象ProjectをCodexまたはClaude Codeで開く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800600" y="16642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00600" y="170992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330952" y="1655064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AGENTS.mdと担当領域READMEを読む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245059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49631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16152" y="2441448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目的・対象・完了条件・権限を伝える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800600" y="245059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249631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330952" y="2441448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選ばれたSkillと作業範囲を確認する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323697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282696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16152" y="3227832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成果物と検証結果を確認する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800600" y="323697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3282696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82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330952" y="3227832"/>
            <a:ext cx="3273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3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未確認・Risk・次のHuman actionを判断する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85800" y="4352544"/>
            <a:ext cx="8001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sz="1000" dirty="0">
                <a:solidFill>
                  <a:srgbClr val="9AA3B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入口：development/README.md｜presentation/README.md｜各skills/README.md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AI-Engine-Dev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AI-Engine-Dev workspace guide template source</dc:title>
  <dc:subject>AI-Engine-Dev workspace guide template source</dc:subject>
  <dc:creator>AI-Engine-Dev presentation harness</dc:creator>
  <cp:lastModifiedBy>AI-Engine-Dev presentation harness</cp:lastModifiedBy>
  <cp:revision>1</cp:revision>
  <dcterms:created xsi:type="dcterms:W3CDTF">2026-09-06T10:16:25Z</dcterms:created>
  <dcterms:modified xsi:type="dcterms:W3CDTF">2026-09-06T10:16:25Z</dcterms:modified>
</cp:coreProperties>
</file>